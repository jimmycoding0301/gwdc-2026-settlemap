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4a1fe7608345dc" /><Relationship Type="http://schemas.openxmlformats.org/officeDocument/2006/relationships/extended-properties" Target="/docProps/app.xml" Id="R7465a69e18264d46" /><Relationship Type="http://schemas.openxmlformats.org/officeDocument/2006/relationships/officeDocument" Target="/ppt/presentation.xml" Id="R441eba7b38c343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276eab1d364022"/>
  </p:sldMasterIdLst>
  <p:notesMasterIdLst>
    <p:notesMasterId xmlns:r="http://schemas.openxmlformats.org/officeDocument/2006/relationships" r:id="Rf984c0bc08e247eb"/>
  </p:notesMasterIdLst>
  <p:sldIdLst>
    <p:sldId xmlns:r="http://schemas.openxmlformats.org/officeDocument/2006/relationships" id="256" r:id="R045ffc5395424e8a"/>
    <p:sldId xmlns:r="http://schemas.openxmlformats.org/officeDocument/2006/relationships" id="257" r:id="R05020eb6a5db4441"/>
    <p:sldId xmlns:r="http://schemas.openxmlformats.org/officeDocument/2006/relationships" id="258" r:id="Rdc911dcf7f8546bb"/>
    <p:sldId xmlns:r="http://schemas.openxmlformats.org/officeDocument/2006/relationships" id="259" r:id="R580ed13e77c5443d"/>
    <p:sldId xmlns:r="http://schemas.openxmlformats.org/officeDocument/2006/relationships" id="260" r:id="R531dfa7aa9be4ca9"/>
    <p:sldId xmlns:r="http://schemas.openxmlformats.org/officeDocument/2006/relationships" id="261" r:id="R369394d8fd0a4c8f"/>
    <p:sldId xmlns:r="http://schemas.openxmlformats.org/officeDocument/2006/relationships" id="262" r:id="R5c0a115a3d6742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f54f99cea74779" /><Relationship Type="http://schemas.openxmlformats.org/officeDocument/2006/relationships/slideMaster" Target="/ppt/slideMasters/slideMaster1.xml" Id="R35276eab1d364022" /><Relationship Type="http://schemas.openxmlformats.org/officeDocument/2006/relationships/notesMaster" Target="/ppt/notesMasters/notesMaster1.xml" Id="Rf984c0bc08e247eb" /><Relationship Type="http://schemas.openxmlformats.org/officeDocument/2006/relationships/presProps" Target="/ppt/presProps.xml" Id="R6c40dab6e8ea4841" /><Relationship Type="http://schemas.openxmlformats.org/officeDocument/2006/relationships/tableStyles" Target="/ppt/tableStyles.xml" Id="R02af3e1bc1b04e5e" /><Relationship Type="http://schemas.openxmlformats.org/officeDocument/2006/relationships/slide" Target="/ppt/slides/slide1.xml" Id="R045ffc5395424e8a" /><Relationship Type="http://schemas.openxmlformats.org/officeDocument/2006/relationships/slide" Target="/ppt/slides/slide2.xml" Id="R05020eb6a5db4441" /><Relationship Type="http://schemas.openxmlformats.org/officeDocument/2006/relationships/slide" Target="/ppt/slides/slide3.xml" Id="Rdc911dcf7f8546bb" /><Relationship Type="http://schemas.openxmlformats.org/officeDocument/2006/relationships/slide" Target="/ppt/slides/slide4.xml" Id="R580ed13e77c5443d" /><Relationship Type="http://schemas.openxmlformats.org/officeDocument/2006/relationships/slide" Target="/ppt/slides/slide5.xml" Id="R531dfa7aa9be4ca9" /><Relationship Type="http://schemas.openxmlformats.org/officeDocument/2006/relationships/slide" Target="/ppt/slides/slide6.xml" Id="R369394d8fd0a4c8f" /><Relationship Type="http://schemas.openxmlformats.org/officeDocument/2006/relationships/slide" Target="/ppt/slides/slide7.xml" Id="R5c0a115a3d6742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19b7cf822940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6f918bef244c2f" /><Relationship Type="http://schemas.openxmlformats.org/officeDocument/2006/relationships/notesMaster" Target="/ppt/notesMasters/notesMaster1.xml" Id="R1dc8dd8176f54e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8a3f7a69f7476c" /><Relationship Type="http://schemas.openxmlformats.org/officeDocument/2006/relationships/notesMaster" Target="/ppt/notesMasters/notesMaster1.xml" Id="R93215242ca404f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2f29ad994d4f1c" /><Relationship Type="http://schemas.openxmlformats.org/officeDocument/2006/relationships/notesMaster" Target="/ppt/notesMasters/notesMaster1.xml" Id="Re64448fc9aaf4c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86794394ce43f0" /><Relationship Type="http://schemas.openxmlformats.org/officeDocument/2006/relationships/notesMaster" Target="/ppt/notesMasters/notesMaster1.xml" Id="R0ebd1587cc2743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03994cb9704cf5" /><Relationship Type="http://schemas.openxmlformats.org/officeDocument/2006/relationships/notesMaster" Target="/ppt/notesMasters/notesMaster1.xml" Id="R1cb2462f36dc47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0b4b6aafed4c29" /><Relationship Type="http://schemas.openxmlformats.org/officeDocument/2006/relationships/notesMaster" Target="/ppt/notesMasters/notesMaster1.xml" Id="Rae2ec59f6c194c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257066dd5147a6" /><Relationship Type="http://schemas.openxmlformats.org/officeDocument/2006/relationships/notesMaster" Target="/ppt/notesMasters/notesMaster1.xml" Id="Rda15f78a428342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 — Team and product cover.</a:t>
            </a:r>
          </a:p>
          <a:p xmlns:a="http://schemas.openxmlformats.org/drawingml/2006/main">
            <a:r>
              <a:t>Repository sources: projects/tron-c/docs/gasfree-one-shot.md; projects/tron-c/server/integration/README.md; sanitized canary evidence at submissions/gwdc-2026-settlemap/.data/gasfree-one-shot/gwdc-final-20260930-001.evidence.json.</a:t>
            </a:r>
          </a:p>
          <a:p xmlns:a="http://schemas.openxmlformats.org/drawingml/2006/main">
            <a:r>
              <a:t>Verified Nile canary transaction: https://nile.tronscan.org/#/transaction/1f3a3de905eeef90570bf297bb592d4ac16383a5a10c1187c4e09b41b5fdd586</a:t>
            </a:r>
          </a:p>
          <a:p xmlns:a="http://schemas.openxmlformats.org/drawingml/2006/main">
            <a:r>
              <a:t>Canary result: provider SUCCEED; chain SOLIDITY; block 71389721; exact TRC-20 Transfer at log index 2.</a:t>
            </a:r>
          </a:p>
          <a:p xmlns:a="http://schemas.openxmlformats.org/drawingml/2006/main">
            <a:r>
              <a:t>Transfer: 1.000001 USDT from derived GasFree account TH3V9cnUct542ss5ZgAzNHWnFH9ycB1Tw1 to dedicated EOA TQcxtc1CmGRL8NwuDs3LewTBFycgXb28AR. Actual fee: 1.3 USDT.</a:t>
            </a:r>
          </a:p>
          <a:p xmlns:a="http://schemas.openxmlformats.org/drawingml/2006/main">
            <a:r>
              <a:t>Verification source: GasFree provider status + Nile Solidity RPC.</a:t>
            </a:r>
          </a:p>
          <a:p xmlns:a="http://schemas.openxmlformats.org/drawingml/2006/main">
            <a:r>
              <a:t>GasFree API source: https://docs.gasfree.io/</a:t>
            </a:r>
          </a:p>
          <a:p xmlns:a="http://schemas.openxmlformats.org/drawingml/2006/main">
            <a:r>
              <a:t>TRON Solidity confirmation source: https://developers.tron.network/docs/confirmation-semantics</a:t>
            </a:r>
          </a:p>
          <a:p xmlns:a="http://schemas.openxmlformats.org/drawingml/2006/main">
            <a:r>
              <a:t>Nile Solidity receipt endpoint: https://nile.trongrid.io/walletsolidity/gettransactioninfobyid (POST)</a:t>
            </a:r>
          </a:p>
          <a:p xmlns:a="http://schemas.openxmlformats.org/drawingml/2006/main">
            <a:r>
              <a:t>Scope boundary: this proves one recipient canary only, not the complete multi-recipient batch.</a:t>
            </a:r>
          </a:p>
          <a:p xmlns:a="http://schemas.openxmlformats.org/drawingml/2006/main">
            <a:r>
              <a:t>Screenshot: projects/tron-c/docs/creator-story-anomalies.png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 — Product overview and verified canary scope.</a:t>
            </a:r>
          </a:p>
          <a:p xmlns:a="http://schemas.openxmlformats.org/drawingml/2006/main">
            <a:r>
              <a:t>Repository sources: projects/tron-c/docs/gasfree-one-shot.md; projects/tron-c/server/integration/README.md; sanitized canary evidence at submissions/gwdc-2026-settlemap/.data/gasfree-one-shot/gwdc-final-20260930-001.evidence.json.</a:t>
            </a:r>
          </a:p>
          <a:p xmlns:a="http://schemas.openxmlformats.org/drawingml/2006/main">
            <a:r>
              <a:t>Verified Nile canary transaction: https://nile.tronscan.org/#/transaction/1f3a3de905eeef90570bf297bb592d4ac16383a5a10c1187c4e09b41b5fdd586</a:t>
            </a:r>
          </a:p>
          <a:p xmlns:a="http://schemas.openxmlformats.org/drawingml/2006/main">
            <a:r>
              <a:t>Canary result: provider SUCCEED; chain SOLIDITY; block 71389721; exact TRC-20 Transfer at log index 2.</a:t>
            </a:r>
          </a:p>
          <a:p xmlns:a="http://schemas.openxmlformats.org/drawingml/2006/main">
            <a:r>
              <a:t>Transfer: 1.000001 USDT from derived GasFree account TH3V9cnUct542ss5ZgAzNHWnFH9ycB1Tw1 to dedicated EOA TQcxtc1CmGRL8NwuDs3LewTBFycgXb28AR. Actual fee: 1.3 USDT.</a:t>
            </a:r>
          </a:p>
          <a:p xmlns:a="http://schemas.openxmlformats.org/drawingml/2006/main">
            <a:r>
              <a:t>Verification source: GasFree provider status + Nile Solidity RPC.</a:t>
            </a:r>
          </a:p>
          <a:p xmlns:a="http://schemas.openxmlformats.org/drawingml/2006/main">
            <a:r>
              <a:t>GasFree API source: https://docs.gasfree.io/</a:t>
            </a:r>
          </a:p>
          <a:p xmlns:a="http://schemas.openxmlformats.org/drawingml/2006/main">
            <a:r>
              <a:t>TRON Solidity confirmation source: https://developers.tron.network/docs/confirmation-semantics</a:t>
            </a:r>
          </a:p>
          <a:p xmlns:a="http://schemas.openxmlformats.org/drawingml/2006/main">
            <a:r>
              <a:t>Nile Solidity receipt endpoint: https://nile.trongrid.io/walletsolidity/gettransactioninfobyid (POST)</a:t>
            </a:r>
          </a:p>
          <a:p xmlns:a="http://schemas.openxmlformats.org/drawingml/2006/main">
            <a:r>
              <a:t>Scope boundary: this proves one recipient canary only, not the complete multi-recipient batch.</a:t>
            </a:r>
          </a:p>
          <a:p xmlns:a="http://schemas.openxmlformats.org/drawingml/2006/main">
            <a:r>
              <a:t>Screenshot: projects/tron-c/docs/creator-story-review.png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 — Problem and solution.</a:t>
            </a:r>
          </a:p>
          <a:p xmlns:a="http://schemas.openxmlformats.org/drawingml/2006/main">
            <a:r>
              <a:t>Repository sources: projects/tron-c/docs/gasfree-one-shot.md; projects/tron-c/server/integration/README.md; sanitized canary evidence at submissions/gwdc-2026-settlemap/.data/gasfree-one-shot/gwdc-final-20260930-001.evidence.json.</a:t>
            </a:r>
          </a:p>
          <a:p xmlns:a="http://schemas.openxmlformats.org/drawingml/2006/main">
            <a:r>
              <a:t>Verified Nile canary transaction: https://nile.tronscan.org/#/transaction/1f3a3de905eeef90570bf297bb592d4ac16383a5a10c1187c4e09b41b5fdd586</a:t>
            </a:r>
          </a:p>
          <a:p xmlns:a="http://schemas.openxmlformats.org/drawingml/2006/main">
            <a:r>
              <a:t>Canary result: provider SUCCEED; chain SOLIDITY; block 71389721; exact TRC-20 Transfer at log index 2.</a:t>
            </a:r>
          </a:p>
          <a:p xmlns:a="http://schemas.openxmlformats.org/drawingml/2006/main">
            <a:r>
              <a:t>Transfer: 1.000001 USDT from derived GasFree account TH3V9cnUct542ss5ZgAzNHWnFH9ycB1Tw1 to dedicated EOA TQcxtc1CmGRL8NwuDs3LewTBFycgXb28AR. Actual fee: 1.3 USDT.</a:t>
            </a:r>
          </a:p>
          <a:p xmlns:a="http://schemas.openxmlformats.org/drawingml/2006/main">
            <a:r>
              <a:t>Verification source: GasFree provider status + Nile Solidity RPC.</a:t>
            </a:r>
          </a:p>
          <a:p xmlns:a="http://schemas.openxmlformats.org/drawingml/2006/main">
            <a:r>
              <a:t>GasFree API source: https://docs.gasfree.io/</a:t>
            </a:r>
          </a:p>
          <a:p xmlns:a="http://schemas.openxmlformats.org/drawingml/2006/main">
            <a:r>
              <a:t>TRON Solidity confirmation source: https://developers.tron.network/docs/confirmation-semantics</a:t>
            </a:r>
          </a:p>
          <a:p xmlns:a="http://schemas.openxmlformats.org/drawingml/2006/main">
            <a:r>
              <a:t>Nile Solidity receipt endpoint: https://nile.trongrid.io/walletsolidity/gettransactioninfobyid (POST)</a:t>
            </a:r>
          </a:p>
          <a:p xmlns:a="http://schemas.openxmlformats.org/drawingml/2006/main">
            <a:r>
              <a:t>Scope boundary: this proves one recipient canary only, not the complete multi-recipient batch.</a:t>
            </a:r>
          </a:p>
          <a:p xmlns:a="http://schemas.openxmlformats.org/drawingml/2006/main">
            <a:r>
              <a:t>Claims describe product scope; no market-size estimate is asserted.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 — Product workflow.</a:t>
            </a:r>
          </a:p>
          <a:p xmlns:a="http://schemas.openxmlformats.org/drawingml/2006/main">
            <a:r>
              <a:t>Repository sources: projects/tron-c/docs/gasfree-one-shot.md; projects/tron-c/server/integration/README.md; sanitized canary evidence at submissions/gwdc-2026-settlemap/.data/gasfree-one-shot/gwdc-final-20260930-001.evidence.json.</a:t>
            </a:r>
          </a:p>
          <a:p xmlns:a="http://schemas.openxmlformats.org/drawingml/2006/main">
            <a:r>
              <a:t>Verified Nile canary transaction: https://nile.tronscan.org/#/transaction/1f3a3de905eeef90570bf297bb592d4ac16383a5a10c1187c4e09b41b5fdd586</a:t>
            </a:r>
          </a:p>
          <a:p xmlns:a="http://schemas.openxmlformats.org/drawingml/2006/main">
            <a:r>
              <a:t>Canary result: provider SUCCEED; chain SOLIDITY; block 71389721; exact TRC-20 Transfer at log index 2.</a:t>
            </a:r>
          </a:p>
          <a:p xmlns:a="http://schemas.openxmlformats.org/drawingml/2006/main">
            <a:r>
              <a:t>Transfer: 1.000001 USDT from derived GasFree account TH3V9cnUct542ss5ZgAzNHWnFH9ycB1Tw1 to dedicated EOA TQcxtc1CmGRL8NwuDs3LewTBFycgXb28AR. Actual fee: 1.3 USDT.</a:t>
            </a:r>
          </a:p>
          <a:p xmlns:a="http://schemas.openxmlformats.org/drawingml/2006/main">
            <a:r>
              <a:t>Verification source: GasFree provider status + Nile Solidity RPC.</a:t>
            </a:r>
          </a:p>
          <a:p xmlns:a="http://schemas.openxmlformats.org/drawingml/2006/main">
            <a:r>
              <a:t>GasFree API source: https://docs.gasfree.io/</a:t>
            </a:r>
          </a:p>
          <a:p xmlns:a="http://schemas.openxmlformats.org/drawingml/2006/main">
            <a:r>
              <a:t>TRON Solidity confirmation source: https://developers.tron.network/docs/confirmation-semantics</a:t>
            </a:r>
          </a:p>
          <a:p xmlns:a="http://schemas.openxmlformats.org/drawingml/2006/main">
            <a:r>
              <a:t>Nile Solidity receipt endpoint: https://nile.trongrid.io/walletsolidity/gettransactioninfobyid (POST)</a:t>
            </a:r>
          </a:p>
          <a:p xmlns:a="http://schemas.openxmlformats.org/drawingml/2006/main">
            <a:r>
              <a:t>Scope boundary: this proves one recipient canary only, not the complete multi-recipient batch.</a:t>
            </a:r>
          </a:p>
          <a:p xmlns:a="http://schemas.openxmlformats.org/drawingml/2006/main">
            <a:r>
              <a:t>Screenshot: projects/tron-c/docs/creator-story-unknown.png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5 — Technical architecture and verified canary evidence.</a:t>
            </a:r>
          </a:p>
          <a:p xmlns:a="http://schemas.openxmlformats.org/drawingml/2006/main">
            <a:r>
              <a:t>Repository sources: projects/tron-c/docs/gasfree-one-shot.md; projects/tron-c/server/integration/README.md; sanitized canary evidence at submissions/gwdc-2026-settlemap/.data/gasfree-one-shot/gwdc-final-20260930-001.evidence.json.</a:t>
            </a:r>
          </a:p>
          <a:p xmlns:a="http://schemas.openxmlformats.org/drawingml/2006/main">
            <a:r>
              <a:t>Verified Nile canary transaction: https://nile.tronscan.org/#/transaction/1f3a3de905eeef90570bf297bb592d4ac16383a5a10c1187c4e09b41b5fdd586</a:t>
            </a:r>
          </a:p>
          <a:p xmlns:a="http://schemas.openxmlformats.org/drawingml/2006/main">
            <a:r>
              <a:t>Canary result: provider SUCCEED; chain SOLIDITY; block 71389721; exact TRC-20 Transfer at log index 2.</a:t>
            </a:r>
          </a:p>
          <a:p xmlns:a="http://schemas.openxmlformats.org/drawingml/2006/main">
            <a:r>
              <a:t>Transfer: 1.000001 USDT from derived GasFree account TH3V9cnUct542ss5ZgAzNHWnFH9ycB1Tw1 to dedicated EOA TQcxtc1CmGRL8NwuDs3LewTBFycgXb28AR. Actual fee: 1.3 USDT.</a:t>
            </a:r>
          </a:p>
          <a:p xmlns:a="http://schemas.openxmlformats.org/drawingml/2006/main">
            <a:r>
              <a:t>Verification source: GasFree provider status + Nile Solidity RPC.</a:t>
            </a:r>
          </a:p>
          <a:p xmlns:a="http://schemas.openxmlformats.org/drawingml/2006/main">
            <a:r>
              <a:t>GasFree API source: https://docs.gasfree.io/</a:t>
            </a:r>
          </a:p>
          <a:p xmlns:a="http://schemas.openxmlformats.org/drawingml/2006/main">
            <a:r>
              <a:t>TRON Solidity confirmation source: https://developers.tron.network/docs/confirmation-semantics</a:t>
            </a:r>
          </a:p>
          <a:p xmlns:a="http://schemas.openxmlformats.org/drawingml/2006/main">
            <a:r>
              <a:t>Nile Solidity receipt endpoint: https://nile.trongrid.io/walletsolidity/gettransactioninfobyid (POST)</a:t>
            </a:r>
          </a:p>
          <a:p xmlns:a="http://schemas.openxmlformats.org/drawingml/2006/main">
            <a:r>
              <a:t>Scope boundary: this proves one recipient canary only, not the complete multi-recipient batch.</a:t>
            </a:r>
          </a:p>
          <a:p xmlns:a="http://schemas.openxmlformats.org/drawingml/2006/main">
            <a:r>
              <a:t>Screenshot: projects/tron-c/docs/verification-live-ui.png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6 — Market and competitive positioning.</a:t>
            </a:r>
          </a:p>
          <a:p xmlns:a="http://schemas.openxmlformats.org/drawingml/2006/main">
            <a:r>
              <a:t>Repository sources: projects/tron-c/docs/gasfree-one-shot.md; projects/tron-c/server/integration/README.md; sanitized canary evidence at submissions/gwdc-2026-settlemap/.data/gasfree-one-shot/gwdc-final-20260930-001.evidence.json.</a:t>
            </a:r>
          </a:p>
          <a:p xmlns:a="http://schemas.openxmlformats.org/drawingml/2006/main">
            <a:r>
              <a:t>Verified Nile canary transaction: https://nile.tronscan.org/#/transaction/1f3a3de905eeef90570bf297bb592d4ac16383a5a10c1187c4e09b41b5fdd586</a:t>
            </a:r>
          </a:p>
          <a:p xmlns:a="http://schemas.openxmlformats.org/drawingml/2006/main">
            <a:r>
              <a:t>Canary result: provider SUCCEED; chain SOLIDITY; block 71389721; exact TRC-20 Transfer at log index 2.</a:t>
            </a:r>
          </a:p>
          <a:p xmlns:a="http://schemas.openxmlformats.org/drawingml/2006/main">
            <a:r>
              <a:t>Transfer: 1.000001 USDT from derived GasFree account TH3V9cnUct542ss5ZgAzNHWnFH9ycB1Tw1 to dedicated EOA TQcxtc1CmGRL8NwuDs3LewTBFycgXb28AR. Actual fee: 1.3 USDT.</a:t>
            </a:r>
          </a:p>
          <a:p xmlns:a="http://schemas.openxmlformats.org/drawingml/2006/main">
            <a:r>
              <a:t>Verification source: GasFree provider status + Nile Solidity RPC.</a:t>
            </a:r>
          </a:p>
          <a:p xmlns:a="http://schemas.openxmlformats.org/drawingml/2006/main">
            <a:r>
              <a:t>GasFree API source: https://docs.gasfree.io/</a:t>
            </a:r>
          </a:p>
          <a:p xmlns:a="http://schemas.openxmlformats.org/drawingml/2006/main">
            <a:r>
              <a:t>TRON Solidity confirmation source: https://developers.tron.network/docs/confirmation-semantics</a:t>
            </a:r>
          </a:p>
          <a:p xmlns:a="http://schemas.openxmlformats.org/drawingml/2006/main">
            <a:r>
              <a:t>Nile Solidity receipt endpoint: https://nile.trongrid.io/walletsolidity/gettransactioninfobyid (POST)</a:t>
            </a:r>
          </a:p>
          <a:p xmlns:a="http://schemas.openxmlformats.org/drawingml/2006/main">
            <a:r>
              <a:t>Scope boundary: this proves one recipient canary only, not the complete multi-recipient batch.</a:t>
            </a:r>
          </a:p>
          <a:p xmlns:a="http://schemas.openxmlformats.org/drawingml/2006/main">
            <a:r>
              <a:t>Comparison is qualitative and based on workflow scope. No market-size or revenue estimate is claimed.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7 — Roadmap and current product boundary.</a:t>
            </a:r>
          </a:p>
          <a:p xmlns:a="http://schemas.openxmlformats.org/drawingml/2006/main">
            <a:r>
              <a:t>Repository sources: projects/tron-c/docs/gasfree-one-shot.md; projects/tron-c/server/integration/README.md; sanitized canary evidence at submissions/gwdc-2026-settlemap/.data/gasfree-one-shot/gwdc-final-20260930-001.evidence.json.</a:t>
            </a:r>
          </a:p>
          <a:p xmlns:a="http://schemas.openxmlformats.org/drawingml/2006/main">
            <a:r>
              <a:t>Verified Nile canary transaction: https://nile.tronscan.org/#/transaction/1f3a3de905eeef90570bf297bb592d4ac16383a5a10c1187c4e09b41b5fdd586</a:t>
            </a:r>
          </a:p>
          <a:p xmlns:a="http://schemas.openxmlformats.org/drawingml/2006/main">
            <a:r>
              <a:t>Canary result: provider SUCCEED; chain SOLIDITY; block 71389721; exact TRC-20 Transfer at log index 2.</a:t>
            </a:r>
          </a:p>
          <a:p xmlns:a="http://schemas.openxmlformats.org/drawingml/2006/main">
            <a:r>
              <a:t>Transfer: 1.000001 USDT from derived GasFree account TH3V9cnUct542ss5ZgAzNHWnFH9ycB1Tw1 to dedicated EOA TQcxtc1CmGRL8NwuDs3LewTBFycgXb28AR. Actual fee: 1.3 USDT.</a:t>
            </a:r>
          </a:p>
          <a:p xmlns:a="http://schemas.openxmlformats.org/drawingml/2006/main">
            <a:r>
              <a:t>Verification source: GasFree provider status + Nile Solidity RPC.</a:t>
            </a:r>
          </a:p>
          <a:p xmlns:a="http://schemas.openxmlformats.org/drawingml/2006/main">
            <a:r>
              <a:t>GasFree API source: https://docs.gasfree.io/</a:t>
            </a:r>
          </a:p>
          <a:p xmlns:a="http://schemas.openxmlformats.org/drawingml/2006/main">
            <a:r>
              <a:t>TRON Solidity confirmation source: https://developers.tron.network/docs/confirmation-semantics</a:t>
            </a:r>
          </a:p>
          <a:p xmlns:a="http://schemas.openxmlformats.org/drawingml/2006/main">
            <a:r>
              <a:t>Nile Solidity receipt endpoint: https://nile.trongrid.io/walletsolidity/gettransactioninfobyid (POST)</a:t>
            </a:r>
          </a:p>
          <a:p xmlns:a="http://schemas.openxmlformats.org/drawingml/2006/main">
            <a:r>
              <a:t>Scope boundary: this proves one recipient canary only, not the complete multi-recipient batch.</a:t>
            </a:r>
          </a:p>
          <a:p xmlns:a="http://schemas.openxmlformats.org/drawingml/2006/main">
            <a:r>
              <a:t>Next evidence milestone: a controlled multi-recipient Nile batch with live UI receipt capture.</a:t>
            </a:r>
          </a:p>
          <a:p xmlns:a="http://schemas.openxmlformats.org/drawingml/2006/main">
            <a:r>
              <a:t>GWDC 2026 official challenge brief: https://drive.google.com/file/d/1HXLhu1_vCoMD5aN3APEYEjDrh9oVCj7g/view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2900ff715a4c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62538a33d9415a" /><Relationship Type="http://schemas.openxmlformats.org/officeDocument/2006/relationships/slideLayout" Target="/ppt/slideLayouts/slideLayout1.xml" Id="Reebcd324a16645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bcd324a16645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c9ed255e74b17" /><Relationship Type="http://schemas.openxmlformats.org/officeDocument/2006/relationships/image" Target="/ppt/media/image.png" Id="R490c8ea8837a4776" /><Relationship Type="http://schemas.openxmlformats.org/officeDocument/2006/relationships/notesSlide" Target="/ppt/notesSlides/notesSlide1.xml" Id="Rc9698d7962dc41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c6f492f64404b" /><Relationship Type="http://schemas.openxmlformats.org/officeDocument/2006/relationships/image" Target="/ppt/media/image2.png" Id="R0fc8baa22ed649cf" /><Relationship Type="http://schemas.openxmlformats.org/officeDocument/2006/relationships/notesSlide" Target="/ppt/notesSlides/notesSlide2.xml" Id="R4859f28533ae42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f14de4daa4a6c" /><Relationship Type="http://schemas.openxmlformats.org/officeDocument/2006/relationships/notesSlide" Target="/ppt/notesSlides/notesSlide3.xml" Id="R694b13c801b545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b48fea70142bc" /><Relationship Type="http://schemas.openxmlformats.org/officeDocument/2006/relationships/image" Target="/ppt/media/image3.png" Id="R753b635954c04ef4" /><Relationship Type="http://schemas.openxmlformats.org/officeDocument/2006/relationships/notesSlide" Target="/ppt/notesSlides/notesSlide4.xml" Id="Rf7859226b52c4c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5c5beee83461d" /><Relationship Type="http://schemas.openxmlformats.org/officeDocument/2006/relationships/image" Target="/ppt/media/image4.png" Id="R08468fc36e624dbc" /><Relationship Type="http://schemas.openxmlformats.org/officeDocument/2006/relationships/notesSlide" Target="/ppt/notesSlides/notesSlide5.xml" Id="R5a8a3fb362ab44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bacfafd2049ee" /><Relationship Type="http://schemas.openxmlformats.org/officeDocument/2006/relationships/notesSlide" Target="/ppt/notesSlides/notesSlide6.xml" Id="Re039baa175374f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9e97f688349fa" /><Relationship Type="http://schemas.openxmlformats.org/officeDocument/2006/relationships/notesSlide" Target="/ppt/notesSlides/notesSlide7.xml" Id="R00106cefbbc64f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1493C-690D-46A9-AE9C-7D49E1C2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57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18390-CA37-449B-A0CD-6F97411F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E8374-BDFE-4D14-9EBF-FA471576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TRON CHALLENGE C · GASFEE-FREE PAYMENTS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3729C-6EBF-44DF-8A4B-CB9AB05C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Every payout row.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recoverable trail.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06036-505B-47D4-A1C5-F23EE648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4324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rPr>
              <a:t>From campaign spreadsheet to grouped TRON settlement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A1DF0-DF34-4AF3-9DBD-6138CF32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2133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3A32"/>
          </a:solidFill>
          <a:ln xmlns:a="http://schemas.openxmlformats.org/drawingml/2006/main" w="9525">
            <a:solidFill>
              <a:srgbClr val="D6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89C27-9C74-4906-B843-8B905FBC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SOLO BUILDER / TEAM 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A939A-1FB0-44D9-B399-45AE25F6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rPr>
              <a:t>GWDC 2026 KOREA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D6E40-C438-4825-A5FA-9C6F4F38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90550"/>
            <a:ext cx="5524500" cy="5676900"/>
          </a:xfrm>
          <a:prstGeom xmlns:a="http://schemas.openxmlformats.org/drawingml/2006/main" prst="roundRect">
            <a:avLst>
              <a:gd name="adj" fmla="val 3103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c8ea8837a4776"/>
          <a:srcRect xmlns:a="http://schemas.openxmlformats.org/drawingml/2006/main" l="4000" t="2000" r="1000" b="2000"/>
          <a:stretch xmlns:a="http://schemas.openxmlformats.org/drawingml/2006/main"/>
        </p:blipFill>
        <p:spPr>
          <a:xfrm xmlns:a="http://schemas.openxmlformats.org/drawingml/2006/main">
            <a:off x="6096000" y="609600"/>
            <a:ext cx="5486400" cy="56388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55DDF-55C8-48A2-A0E3-1C30B0FE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91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PRODUCT CAPTURE</a:t>
            </a:r>
          </a:p>
        </p:txBody>
      </p:sp>
    </p:spTree>
    <p:extLst>
      <p:ext uri="{BB962C8B-B14F-4D97-AF65-F5344CB8AC3E}">
        <p14:creationId xmlns:p14="http://schemas.microsoft.com/office/powerpoint/2010/main" val="926208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6EFE09-4831-4E0A-AF97-F369535B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4B9AE-E76A-4F83-B177-6CCBD698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SETTLEMAP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AA6EA-28C3-46EE-AF66-60A2FE6F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998FD-B749-4717-A916-5D79AF6C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DBF7F-7B4A-4627-96B5-727C925E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SETTLEMAP  ·  SOLO BUILDER / TEAM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05ED4-3138-476F-9358-05A392A7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91300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02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F63DA-1900-435E-B87D-B8381F1D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Business rows survive payment grouping and recovery.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F93E0-E757-4C38-83B6-21B5DA37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SettleMap validates a payout sheet, preserves each source row, groups valid payments, binds a manifest digest, and reconciles every result back to the original business record.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C065B-476F-4403-8577-0CB84CF0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664845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8baa22ed649cf"/>
          <a:srcRect xmlns:a="http://schemas.openxmlformats.org/drawingml/2006/main" l="3000" t="0" r="1000" b="0"/>
          <a:stretch xmlns:a="http://schemas.openxmlformats.org/drawingml/2006/main"/>
        </p:blipFill>
        <p:spPr>
          <a:xfrm xmlns:a="http://schemas.openxmlformats.org/drawingml/2006/main">
            <a:off x="609600" y="2133600"/>
            <a:ext cx="661035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1CBFF-B2FC-40A4-B9BF-15E09CA6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WORKING 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C7C2B-EFE6-4FEC-B3C7-207BA5CA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336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7D93A-74D3-4047-964D-510415B0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4790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CA25A-4C65-41C7-A47D-2E396B83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145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raw business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0702C-07EA-44CE-A731-F5522EB9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527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4F08A-5208-4D7C-9D15-6AA81FD9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670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C4709-262C-4C6E-989D-B0BA55AD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337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valid payable rows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12A7D-C577-4FE4-8213-1AE9132C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719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993F4B-55E7-47FF-8CC5-D322F22E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8620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CC9437-933A-49AD-92F4-EB619FEF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528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grouped payments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2ECE4-AC4D-44AC-BCD9-E38E3986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72000"/>
            <a:ext cx="3905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3C00E9-00FE-47ED-807A-9DEECC92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244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VERIFIED SCOPE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AA0AD2-86B1-4752-BD9F-09867C35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53000"/>
            <a:ext cx="3486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Verified Nile canary: 1.000001 USDT from derived GasFree account to dedicated EOA. Actual fee: 1.3 USDT.</a:t>
            </a:r>
          </a:p>
        </p:txBody>
      </p:sp>
    </p:spTree>
    <p:extLst>
      <p:ext uri="{BB962C8B-B14F-4D97-AF65-F5344CB8AC3E}">
        <p14:creationId xmlns:p14="http://schemas.microsoft.com/office/powerpoint/2010/main" val="1020534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37E583-5CA1-4C11-ABCB-5C98E3BA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86C23-C99D-4930-BBDD-EDF3550C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SETTLEMAP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70C0A-8308-4132-AB83-40B241B5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PROBLEM +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00850-2FDF-4F54-8401-3D3B5CCC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C5C4F-F2AF-49DC-8AE1-2499C95E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SETTLEMAP  ·  SOLO BUILDER / TEAM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D49BD-E081-47C6-8BDE-095F2FBC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91300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03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AF56D-146A-4DEA-A23B-58D39AFA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5162550" cy="521970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EA758-DE16-4E12-BE92-2D62C966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B5B96-AC3F-406A-B929-E92A65DF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4324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Batching saves fees—until rows, retries and unknown outcomes lose their identity.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D07CF-D0CC-41BC-8B3E-513FEBAA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C3558-2860-411D-8AD9-AAB282CE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3733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rPr>
              <a:t>A grouped payment can hide which invoices it settles.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56139-4DF1-451F-ACAD-F59AF0B2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45328-4EB3-4EEB-AD9D-17B011C2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0"/>
            <a:ext cx="3733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rPr>
              <a:t>A browser timeout can trigger a dangerous duplicate attempt.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A0D3C-5FF7-4D79-AA8C-BAD8AFCB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438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5CCB1-C707-4CFE-A0F3-E5B453EC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95850"/>
            <a:ext cx="3733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rPr>
              <a:t>Business exports and chain traces often diverge.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E8D11-D867-48C1-8312-1E130114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1239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THE 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69F51-E263-464B-901A-1E63BFD0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62100"/>
            <a:ext cx="5048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Preserve identity across the whole settlement lifecycle.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755D0-7B4A-4CC3-B594-64463F6B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09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17757-B2D9-4960-9FB0-BFF4D9DC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3847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45997E-236A-44E5-BD45-C344A1A4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19425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Validate and review each source row before grouping.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2638E-47B8-43DA-9734-5C8E4C07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464461-2532-496B-86D3-1D6EC048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122798-DDFE-4E65-9EC3-EF43C426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2907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A476A4-0D57-4FAF-A960-12F74A2A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10025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Bind grouped payments to one deterministic manifest.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E5FE0C-3048-44CC-A4CF-1259F473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863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166780-2851-4D68-9310-785195F8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91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9525">
            <a:solidFill>
              <a:srgbClr val="D63A3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128594-4C13-4A68-A364-DFB78040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1967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128C00-18A6-4CEE-9DBF-2B23EBA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00625"/>
            <a:ext cx="424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Recover the original trace when state is unknown; never pay again blindly.</a:t>
            </a:r>
          </a:p>
        </p:txBody>
      </p:sp>
    </p:spTree>
    <p:extLst>
      <p:ext uri="{BB962C8B-B14F-4D97-AF65-F5344CB8AC3E}">
        <p14:creationId xmlns:p14="http://schemas.microsoft.com/office/powerpoint/2010/main" val="14546073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37382B-0B81-4394-AEE5-6E7733D3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6529E-246B-4125-9574-B12F3A13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SETTLEMAP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BE083-11AA-4E28-A2E6-298E74BC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PRODUCT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EA1F5-A36A-413A-B1AD-658FA8F3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27785-7937-45B1-9FBE-33675AD8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SETTLEMAP  ·  SOLO BUILDER / TEAM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1F233-2220-4A73-94D9-1460F191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91300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04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4233D-AC85-487F-821A-AD4C3C6A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Review first. Group once. Recover safely.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9D131-1715-496F-9AD4-2DFBFE5D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Each handoff preserves the data needed for review, replay and recovery.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1A49A-D20C-422F-B470-BFC6CFD6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6610350" cy="37528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b635954c04ef4"/>
          <a:srcRect xmlns:a="http://schemas.openxmlformats.org/drawingml/2006/main" l="3000" t="0" r="1000" b="0"/>
          <a:stretch xmlns:a="http://schemas.openxmlformats.org/drawingml/2006/main"/>
        </p:blipFill>
        <p:spPr>
          <a:xfrm xmlns:a="http://schemas.openxmlformats.org/drawingml/2006/main">
            <a:off x="609600" y="2114550"/>
            <a:ext cx="657225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D23BE-EA58-4A15-AA78-F5AC9D4E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3048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9525">
            <a:solidFill>
              <a:srgbClr val="11110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046D7-F853-4265-B846-66CA38BA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UNKNOWN PRESERVES THE ORIGINAL ATTEMPT AND TRACE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7AAF4-76EB-4DEB-93E1-CE1A3A2F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B2C13-9587-47A2-B39F-06AD4877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7ED89-F773-4A72-8A15-295E0156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Validate address, amount, invoice history and anomalies.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4B3B1-E548-4C8F-B515-CB8B325A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908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9A8E6-9AEA-45D1-A4CD-30C7929B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67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02739-06F7-4485-8EE4-3BD3D228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Group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21D7B-A41A-4045-A435-D566DDD6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718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Merge by payee, address and token while retaining row links.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B8F16B-7993-430A-9DD9-0FE49C8B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2430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471B5-CA1B-4829-ABE5-3B16A042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00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DB8E45-F2B3-48D4-BD39-19D007BB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Authorize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F59C4-4F13-4BE8-B5B9-A283DDC2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053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Prepare one TIP-712 payment at a time for TronLink.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794D20-0F35-463A-AC0B-FD64279F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577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23133D-A6FC-4F2E-A19E-49E0CF9C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33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6612A6-6969-40B2-8641-A529F4EC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14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Recover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DF77F7-98FE-4678-87EF-666C9BAF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387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Query the existing trace, then export row + payment evidence.</a:t>
            </a:r>
          </a:p>
        </p:txBody>
      </p:sp>
    </p:spTree>
    <p:extLst>
      <p:ext uri="{BB962C8B-B14F-4D97-AF65-F5344CB8AC3E}">
        <p14:creationId xmlns:p14="http://schemas.microsoft.com/office/powerpoint/2010/main" val="17828276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229008-DF19-44AB-9BAA-E2821AFF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3DBF3-6D35-41F3-8B28-0BE2DC01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SETTLEMAP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3B18C-533D-4E61-AA4F-DD0AD095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TECHNICAL HIGHLIGHTS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7E89B-FBF6-4549-A5C3-3EE04A15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36672-BDC2-452A-A7B2-44BC3CBE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SETTLEMAP  ·  SOLO BUILDER / TEAM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FB18D-191A-44A2-9770-F786FBB3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91300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05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089B3-66AB-4764-9716-12766279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The live path now has a verified Nile canary.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9CAE5-EA8D-44C4-91BE-4BC6C143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GasFree provider status and Nile Solidity RPC agree on the exact TRC-20 Transfer.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99B04-84AF-4C29-AA96-85BE4574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9431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30380-1F94-4BD4-B3C8-D15D70F5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GasFree preflight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D17C0-760B-46F1-A454-1014842C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907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AC90B-7C2E-4A5A-8A6D-2ED1F8E4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38350"/>
            <a:ext cx="19431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B398E-882D-42F0-95EF-4502AD0B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526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TIP-712 via TronLink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F777B8-E468-4C25-809A-FEF798D9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907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86948-229E-48CF-8CE6-40E4FF46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38350"/>
            <a:ext cx="19431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69FD6-88A7-4E47-9B78-D63CCBDF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526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HMAC submit + 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C5E65-B0FB-4F7A-881F-C7242A56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1907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0D061-861C-48CE-9FF9-43A68E37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38350"/>
            <a:ext cx="2143125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9525">
            <a:solidFill>
              <a:srgbClr val="11110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8E8BD4-3829-45D7-8C81-384CFA19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52650"/>
            <a:ext cx="1838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Independent Nile verification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12C76-B051-4304-9093-5C00740E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238750" cy="26860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7F3B2-16FF-4DB6-9A04-357A6749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WHY IT HOLDS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D01F4-CB34-4EDF-8882-F4599D1B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62692-F0CF-4D79-9FBD-D049A70D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Sequential queue respects Provider pending limits.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9A8BCE-0DAA-49DB-BDD8-DD3FDBF0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DB7068-502E-4283-8DB7-261E95F8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UNKNOWN queries the original trace instead of creating a new payment.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956AE4-1435-4C52-91EC-BBEF66ED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AA73EA-3979-4363-8CCB-9A4AD50C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01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Exact token, sender, receiver and 1.000001 USDT matched at log index 2.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138C34-EC8A-4C86-AF63-52D25791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67050"/>
            <a:ext cx="5391150" cy="272415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68fc36e624dbc"/>
          <a:srcRect xmlns:a="http://schemas.openxmlformats.org/drawingml/2006/main" l="0" t="5000" r="0" b="72000"/>
          <a:stretch xmlns:a="http://schemas.openxmlformats.org/drawingml/2006/main"/>
        </p:blipFill>
        <p:spPr>
          <a:xfrm xmlns:a="http://schemas.openxmlformats.org/drawingml/2006/main">
            <a:off x="6229350" y="3086100"/>
            <a:ext cx="5353050" cy="2686050"/>
          </a:xfrm>
          <a:prstGeom xmlns:a="http://schemas.openxmlformats.org/drawingml/2006/main" prst="roundRect">
            <a:avLst>
              <a:gd name="adj" fmla="val 5674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1F8D86-A9EB-4571-9255-77785D65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49720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BAD378-C827-4F00-8A7D-C74F507A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71850"/>
            <a:ext cx="464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ONE-RECIPIENT CANARY VERIFIED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CBB2FE-1E94-423C-9A78-0B2DE315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64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SUCCEED · SOLIDITY · block 71389721 · log 2</a:t>
            </a:r>
          </a:p>
        </p:txBody>
      </p:sp>
    </p:spTree>
    <p:extLst>
      <p:ext uri="{BB962C8B-B14F-4D97-AF65-F5344CB8AC3E}">
        <p14:creationId xmlns:p14="http://schemas.microsoft.com/office/powerpoint/2010/main" val="940071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A3C155-E459-434E-954B-A409DB79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0EB7F-BC38-4A06-BF02-D391CAB6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SETTLEMAP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649B1-A3F9-498E-B4B2-B5F3D619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MARKET + COMPETITION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D7C21-B2B2-48EB-819B-1772BD0D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990FD-274D-4665-B306-90F22358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SETTLEMAP  ·  SOLO BUILDER / TEAM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30192-1AB8-4D7C-A38C-2AB639CD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91300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06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E2183-482C-44FA-8D88-1DDF68A2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A narrow wedge in an existing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85D59-71CE-49B4-BF0A-7BE3865A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A reconciliation layer for teams adopting GasFree batch payouts.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5C9E9-B2B0-4B59-B5D4-DC5FDFD9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9527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D724E-D814-4A0E-A9DF-A67A91CD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PRIMARY 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1F20F-9F3C-4FAE-BBB5-F70DE264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Creator, campaign and operations teams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D53CA-4D68-452A-8723-FDDC6C85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95275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72892-DA0F-4F32-9DEA-59C22315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BUYING TRIGGER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6DC2E-53E3-458B-996F-A0A3C985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A payout spreadsheet with repeated recipients and uncertain retries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8F72A-3004-4F8B-BDB6-7F8ACF74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24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CURRENT 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24A50-5BC9-4980-B9D1-A242556E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24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WHAT IT DOES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2071A-08D1-4A36-8FB2-3B6E7E94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240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WHERE WE ENTER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CDF19-10F2-4728-9BB5-5CFFC0E4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90750"/>
            <a:ext cx="7658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C82F1-FD59-4ACB-9C8F-47BE904F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526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Wallet-by-wallet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6B084C-93B7-49C9-8739-768D5D25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526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Direct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9EC588-2FDB-4CF4-B70D-E12EE2B6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526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Slow and error-prone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3DF69-D40A-4E2A-946C-247E1953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67050"/>
            <a:ext cx="7658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D6F08-0FB2-41A1-B557-6895E995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289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Batch script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E3ACE-B788-48DE-AB3A-C9E86468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289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Efficient submission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3CF1A8-5067-4F90-8DC8-DD99165C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289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Weak recovery semantics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123957-9298-4D70-ACB9-DF7896B4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43350"/>
            <a:ext cx="7658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9F696F-6712-472A-874F-0E48D560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052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Custodial payout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8C1B50-C51F-4058-B633-89FA4204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052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Managed execution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4E28DD-6CF7-49B3-A7F4-7B887CCF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052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Business-row opacity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FE9681-4BB5-46B8-AD6D-479F9AA0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9650"/>
            <a:ext cx="7658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9525">
            <a:solidFill>
              <a:srgbClr val="11110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FD8918-A881-469D-B959-1BF33A1F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8157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SettleMap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FA2BB8-A615-4533-BA3E-E2C1C47F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815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E9E3D8"/>
                </a:solidFill>
                <a:latin typeface="Helvetica Neue"/>
                <a:ea typeface="Helvetica Neue"/>
                <a:cs typeface="Helvetica Neue"/>
              </a:rPr>
              <a:t>Row-preserving grouping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BA5F2B-D440-4799-8773-9F2A06BB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9815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Recoverable evidence trail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82D32F-FFCA-4DC6-90F4-764E1A97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9527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8200D1-4E68-4970-A805-9412E953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ENTRY WEDGE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E4B47A-2EFE-4194-9132-9028C0C4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reconciliation layer for teams adopting GasFree batch payouts.</a:t>
            </a:r>
          </a:p>
        </p:txBody>
      </p:sp>
    </p:spTree>
    <p:extLst>
      <p:ext uri="{BB962C8B-B14F-4D97-AF65-F5344CB8AC3E}">
        <p14:creationId xmlns:p14="http://schemas.microsoft.com/office/powerpoint/2010/main" val="219758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9FC932-3F05-4A50-8657-7E9E399C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FD75F-1E28-4E21-976E-FEBE41B8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SETTLEMAP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5AFAF-1349-4A5A-A343-B617D480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46459-560B-46D9-9088-F8005302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F41D1-6104-46D6-859C-F253D1DB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723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SETTLEMAP  ·  SOLO BUILDER / TEAM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6743F-16B2-46F5-8EAC-676035DE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91300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07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E80A6-6ADE-47FB-A864-B256188E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One verified canary. Full batch proof comes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E41A7-2CF9-4827-86A7-19D02789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C655D"/>
                </a:solidFill>
                <a:latin typeface="Helvetica Neue"/>
                <a:ea typeface="Helvetica Neue"/>
                <a:cs typeface="Helvetica Neue"/>
              </a:rPr>
              <a:t>The Nile write path now has real evidence. Multi-recipient execution remains unproven.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E02C64-71E1-49DB-A992-DE1B7449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33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1110F"/>
          </a:solidFill>
          <a:ln xmlns:a="http://schemas.openxmlformats.org/drawingml/2006/main" w="9525">
            <a:solidFill>
              <a:srgbClr val="11110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7126A-D4D4-488D-8EB8-3DD4AB15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03130-D317-4A20-B2CD-A86555A1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VERIFIED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4F998-D6C4-486F-8465-99864DB7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FDC21-B94A-4163-9BFE-4226FB37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432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12→9→3 fixture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C209B-2575-4C38-8A95-1087D86E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23090-114E-4355-86D1-B211B350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338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One-recipient Nile canary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DEDC6-CDE6-4D2E-A3D8-39C2D3E6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A2721-88D2-42C1-BEF3-B004042A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243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Exact Transfer at log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50694-AEB7-4D74-849F-D0EB1164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3333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26650-E836-4A59-A9ED-AFE118D5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1860A6-05B4-4B44-811C-4198C2AB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CONTROLLED EXPANSION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99EB4E-43FE-4D11-974C-0265D93B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62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5BC633-3882-4EA4-9772-EA86AC3B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Multi-recipient Nile batch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CC4B0B-5790-4362-BB0D-E1CA5237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52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9ACE6B-270E-4FD2-A896-6F7EAF83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338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Live UI receipt capture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D16C25-BE71-403F-9C77-B0065B7B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43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D0CB98-98C0-453E-BF3A-FCF1F7F0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243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Recovery drill on real trace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4DE021-3AD2-48E0-8782-BAA23859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333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580AB1-D6B1-4BDF-B13E-45BA0F0B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05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LATER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F4A5FC-D67B-4E28-9380-34FA6DA7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PRODUCT EXPANSION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A67E61-2D60-4B72-A3CD-7EFBE789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57A968-0C14-427D-BE5A-A4F218E5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Sheets / ERP connectors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D8B94E-D712-403C-A0DE-C65D67C7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52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446E83-8E4F-49D2-B41B-8607DC2E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338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Policy approvals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61F1B3-88F8-49F8-ADD0-58E9D50D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43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3A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A2A1D4-5FFD-40D4-A6E4-D7B7B708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243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0F"/>
                </a:solidFill>
                <a:latin typeface="Helvetica Neue"/>
                <a:ea typeface="Helvetica Neue"/>
                <a:cs typeface="Helvetica Neue"/>
              </a:rPr>
              <a:t>Operational monitoring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14DEA3-52B3-41CB-9FEE-FF22C211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918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D63A32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0EFE48-14DB-4D96-B065-C8C387F7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TRUTHFUL BOUNDARY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7B4367-6A41-4864-9C17-F4B4E695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438775"/>
            <a:ext cx="8496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Verified: 1 recipient, 1.000001 USDT, 1.3 USDT fee. Full batch remains unproven.</a:t>
            </a:r>
          </a:p>
        </p:txBody>
      </p:sp>
    </p:spTree>
    <p:extLst>
      <p:ext uri="{BB962C8B-B14F-4D97-AF65-F5344CB8AC3E}">
        <p14:creationId xmlns:p14="http://schemas.microsoft.com/office/powerpoint/2010/main" val="2035783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2026-09-29T15:47:17.9480000Z</dcterms:created>
  <dcterms:modified xsi:type="dcterms:W3CDTF">2026-09-29T15:47:17.9480000Z</dcterms:modified>
</coreProperties>
</file>